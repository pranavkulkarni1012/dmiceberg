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2D3EE"/>
                </a:solidFill>
                <a:latin typeface="Calibri"/>
              </a:rPr>
              <a:t>ICESHELF · v1.0.0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0" y="4572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6B7890"/>
                </a:solidFill>
                <a:latin typeface="Calibri"/>
              </a:rPr>
              <a:t>Apache-2.0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78BFA"/>
                </a:solidFill>
                <a:latin typeface="Calibri"/>
              </a:rPr>
              <a:t>APACHE ICEBERG FOR AWS DATA MESH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E6EDF7"/>
                </a:solidFill>
                <a:latin typeface="Calibri"/>
              </a:rPr>
              <a:t>Onboard producers to Iceberg —
code generated into your repo.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9AA7BD"/>
                </a:solidFill>
                <a:latin typeface="Calibri"/>
              </a:rPr>
              <a:t>A Claude Code plugin — skills and subagents that write production-ready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605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9AA7BD"/>
                </a:solidFill>
                <a:latin typeface="Calibri"/>
              </a:rPr>
              <a:t>Iceberg code, IaC, and runbooks into your producer's existing repository.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937760"/>
            <a:ext cx="2743200" cy="256032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Calibri"/>
              </a:rPr>
              <a:t>Your repo. Your code.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4937760"/>
            <a:ext cx="2743200" cy="256032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34D399"/>
                </a:solidFill>
                <a:latin typeface="Calibri"/>
              </a:rPr>
              <a:t>No SaaS runtime.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937760"/>
            <a:ext cx="2743200" cy="256032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A78BFA"/>
                </a:solidFill>
                <a:latin typeface="Calibri"/>
              </a:rPr>
              <a:t>Multi-region by default.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4937760"/>
            <a:ext cx="2743200" cy="256032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BBF24"/>
                </a:solidFill>
                <a:latin typeface="Calibri"/>
              </a:rPr>
              <a:t>Apache-2.0.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760720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58978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9AA7BD"/>
                </a:solidFill>
                <a:latin typeface="Calibri"/>
              </a:rPr>
              <a:t>For senior management and senior architects.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· v1.0.0 · Executive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280160" cy="256032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BBF24"/>
                </a:solidFill>
                <a:latin typeface="Calibri"/>
              </a:rPr>
              <a:t>Leadership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20240" y="457200"/>
            <a:ext cx="1280160" cy="256032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A78BFA"/>
                </a:solidFill>
                <a:latin typeface="Calibri"/>
              </a:rPr>
              <a:t>Architect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78992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Every producer reinvents Iceberg. Multi-region makes it worse.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10512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3657600" cy="34747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54864" cy="34747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774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2D3EE"/>
                </a:solidFill>
                <a:latin typeface="Calibri"/>
              </a:rPr>
              <a:t>Six stacks, six sets of quirks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310896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Glue / EMR PySpark, ECS / Lambda Python, ECS / Lambda Java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Each re-learns the same Iceberg configuration traps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No shared code, no shared review checklist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2103120"/>
            <a:ext cx="3657600" cy="34747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2103120"/>
            <a:ext cx="54864" cy="347472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3774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A78BFA"/>
                </a:solidFill>
                <a:latin typeface="Calibri"/>
              </a:rPr>
              <a:t>Multi-region is hard under strict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108960"/>
            <a:ext cx="310896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No cross-region S3. No MRAPs.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Metadata repointing is non-trivial and error-prone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Reference material assumes the opposite posture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103120"/>
            <a:ext cx="3657600" cy="34747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2103120"/>
            <a:ext cx="54864" cy="3474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3774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4D399"/>
                </a:solidFill>
                <a:latin typeface="Calibri"/>
              </a:rPr>
              <a:t>No platform leverage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108960"/>
            <a:ext cx="310896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Compaction, snapshot expiry, orphan cleanup diverge per team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Security review reopens from zero on every onboarding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Policy cannot be enforced in one place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1">
                <a:solidFill>
                  <a:srgbClr val="FBBF24"/>
                </a:solidFill>
                <a:latin typeface="Calibri"/>
              </a:rPr>
              <a:t>Result: 10–12 person-weeks per producer, repeated across the mesh.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· v1.0.0 · Executive briefing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280160" cy="256032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Calibri"/>
              </a:rPr>
              <a:t>All audiences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0467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WHAT ICESHELF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A Claude Code plugin that writes Iceberg code into your repo.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10512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3657600" cy="274320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54864" cy="27432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2D3EE"/>
                </a:solidFill>
                <a:latin typeface="Calibri"/>
              </a:rPr>
              <a:t>9 skills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00400"/>
            <a:ext cx="3108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AA7BD"/>
                </a:solidFill>
                <a:latin typeface="Calibri"/>
              </a:rPr>
              <a:t>Slash commands that drive each stage of onboarding — from profile capture through multi-region DR.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103120"/>
            <a:ext cx="3657600" cy="274320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103120"/>
            <a:ext cx="54864" cy="27432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3774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A78BFA"/>
                </a:solidFill>
                <a:latin typeface="Calibri"/>
              </a:rPr>
              <a:t>5 subagents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200400"/>
            <a:ext cx="3108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AA7BD"/>
                </a:solidFill>
                <a:latin typeface="Calibri"/>
              </a:rPr>
              <a:t>Specialized reasoning: architect, code-generator, validator, multi-region planner, orchestrator.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103120"/>
            <a:ext cx="3657600" cy="274320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2103120"/>
            <a:ext cx="54864" cy="27432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3774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4D399"/>
                </a:solidFill>
                <a:latin typeface="Calibri"/>
              </a:rPr>
              <a:t>Presets + profiles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200400"/>
            <a:ext cx="3108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AA7BD"/>
                </a:solidFill>
                <a:latin typeface="Calibri"/>
              </a:rPr>
              <a:t>Org-wide policy as YAML. Each producer inherits it; only overrides go in the profile.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120640"/>
            <a:ext cx="11155680" cy="109728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120640"/>
            <a:ext cx="54864" cy="10972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03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  <a:latin typeface="Calibri"/>
              </a:rPr>
              <a:t>What ships back to 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692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E6EDF7"/>
                </a:solidFill>
                <a:latin typeface="Calibri"/>
              </a:rPr>
              <a:t>PySpark / PyIceberg / Java pipeline code</a:t>
            </a:r>
            <a:r>
              <a:rPr sz="1200" b="0" i="0">
                <a:solidFill>
                  <a:srgbClr val="9AA7BD"/>
                </a:solidFill>
                <a:latin typeface="Calibri"/>
              </a:rPr>
              <a:t>  ·  Terraform for S3 / Glue / IAM / KMS / VPC  ·  </a:t>
            </a:r>
            <a:r>
              <a:rPr sz="1200" b="1" i="0">
                <a:solidFill>
                  <a:srgbClr val="E6EDF7"/>
                </a:solidFill>
                <a:latin typeface="Calibri"/>
              </a:rPr>
              <a:t>CloudWatch alarms + dashboards</a:t>
            </a:r>
            <a:r>
              <a:rPr sz="1200" b="0" i="0">
                <a:solidFill>
                  <a:srgbClr val="9AA7BD"/>
                </a:solidFill>
                <a:latin typeface="Calibri"/>
              </a:rPr>
              <a:t>  ·  </a:t>
            </a:r>
            <a:r>
              <a:rPr sz="1200" b="1" i="0">
                <a:solidFill>
                  <a:srgbClr val="E6EDF7"/>
                </a:solidFill>
                <a:latin typeface="Calibri"/>
              </a:rPr>
              <a:t>DR runbook</a:t>
            </a:r>
            <a:r>
              <a:rPr sz="1200" b="0" i="0">
                <a:solidFill>
                  <a:srgbClr val="9AA7BD"/>
                </a:solidFill>
                <a:latin typeface="Calibri"/>
              </a:rPr>
              <a:t>  —  all committed to your repo, reviewable in a normal PR.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· v1.0.0 · Executive briefing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280160" cy="256032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BBF24"/>
                </a:solidFill>
                <a:latin typeface="Calibri"/>
              </a:rPr>
              <a:t>Leadership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20240" y="457200"/>
            <a:ext cx="1280160" cy="256032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A78BFA"/>
                </a:solidFill>
                <a:latin typeface="Calibri"/>
              </a:rPr>
              <a:t>Architect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91840" y="457200"/>
            <a:ext cx="1280160" cy="256032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34D399"/>
                </a:solidFill>
                <a:latin typeface="Calibri"/>
              </a:rPr>
              <a:t>Developer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0467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INTEGRATION · HOW IT PLUGS INTO YOUR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Claude Code runs locally. Files land in your repo. Your CI/CD deploys.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10512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4754880" cy="420624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4754880" cy="7315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7627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4D399"/>
                </a:solidFill>
                <a:latin typeface="Consolas"/>
              </a:rPr>
              <a:t>producer-repo/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60320"/>
            <a:ext cx="420624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890"/>
                </a:solidFill>
                <a:latin typeface="Consolas"/>
              </a:rPr>
              <a:t>├─ </a:t>
            </a:r>
            <a:r>
              <a:rPr sz="1100" b="0" i="0">
                <a:solidFill>
                  <a:srgbClr val="9AA7BD"/>
                </a:solidFill>
                <a:latin typeface="Consolas"/>
              </a:rPr>
              <a:t>src/                     </a:t>
            </a:r>
            <a:r>
              <a:rPr sz="1000" b="0" i="1">
                <a:solidFill>
                  <a:srgbClr val="6B7890"/>
                </a:solidFill>
                <a:latin typeface="Consolas"/>
              </a:rPr>
              <a:t> # your existing code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890"/>
                </a:solidFill>
                <a:latin typeface="Consolas"/>
              </a:rPr>
              <a:t>├─ </a:t>
            </a:r>
            <a:r>
              <a:rPr sz="1100" b="0" i="0">
                <a:solidFill>
                  <a:srgbClr val="9AA7BD"/>
                </a:solidFill>
                <a:latin typeface="Consolas"/>
              </a:rPr>
              <a:t>tests/                   </a:t>
            </a:r>
            <a:r>
              <a:rPr sz="1000" b="0" i="1">
                <a:solidFill>
                  <a:srgbClr val="6B7890"/>
                </a:solidFill>
                <a:latin typeface="Consolas"/>
              </a:rPr>
              <a:t> # your existing tests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890"/>
                </a:solidFill>
                <a:latin typeface="Consolas"/>
              </a:rPr>
              <a:t>├─ </a:t>
            </a:r>
            <a:r>
              <a:rPr sz="1100" b="0" i="0">
                <a:solidFill>
                  <a:srgbClr val="9AA7BD"/>
                </a:solidFill>
                <a:latin typeface="Consolas"/>
              </a:rPr>
              <a:t>.github/workflows/       </a:t>
            </a:r>
            <a:r>
              <a:rPr sz="1000" b="0" i="1">
                <a:solidFill>
                  <a:srgbClr val="6B7890"/>
                </a:solidFill>
                <a:latin typeface="Consolas"/>
              </a:rPr>
              <a:t> # your existing CI/CD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890"/>
                </a:solidFill>
                <a:latin typeface="Consolas"/>
              </a:rPr>
              <a:t>│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2D3EE"/>
                </a:solidFill>
                <a:latin typeface="Consolas"/>
              </a:rPr>
              <a:t>├─ </a:t>
            </a:r>
            <a:r>
              <a:rPr sz="1100" b="1" i="0">
                <a:solidFill>
                  <a:srgbClr val="22D3EE"/>
                </a:solidFill>
                <a:latin typeface="Consolas"/>
              </a:rPr>
              <a:t>profiles/&lt;producer&gt;.yaml </a:t>
            </a:r>
            <a:r>
              <a:rPr sz="1000" b="0" i="1">
                <a:solidFill>
                  <a:srgbClr val="22D3EE"/>
                </a:solidFill>
                <a:latin typeface="Consolas"/>
              </a:rPr>
              <a:t> # Iceshelf: org preset + overrides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2D3EE"/>
                </a:solidFill>
                <a:latin typeface="Consolas"/>
              </a:rPr>
              <a:t>├─ </a:t>
            </a:r>
            <a:r>
              <a:rPr sz="1100" b="1" i="0">
                <a:solidFill>
                  <a:srgbClr val="22D3EE"/>
                </a:solidFill>
                <a:latin typeface="Consolas"/>
              </a:rPr>
              <a:t>iceberg/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2D3EE"/>
                </a:solidFill>
                <a:latin typeface="Consolas"/>
              </a:rPr>
              <a:t>│   ├─ </a:t>
            </a:r>
            <a:r>
              <a:rPr sz="1100" b="1" i="0">
                <a:solidFill>
                  <a:srgbClr val="22D3EE"/>
                </a:solidFill>
                <a:latin typeface="Consolas"/>
              </a:rPr>
              <a:t>ddl/*.sql            </a:t>
            </a:r>
            <a:r>
              <a:rPr sz="1000" b="0" i="1">
                <a:solidFill>
                  <a:srgbClr val="22D3EE"/>
                </a:solidFill>
                <a:latin typeface="Consolas"/>
              </a:rPr>
              <a:t> # Iceshelf: table DDL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2D3EE"/>
                </a:solidFill>
                <a:latin typeface="Consolas"/>
              </a:rPr>
              <a:t>│   ├─ </a:t>
            </a:r>
            <a:r>
              <a:rPr sz="1100" b="1" i="0">
                <a:solidFill>
                  <a:srgbClr val="22D3EE"/>
                </a:solidFill>
                <a:latin typeface="Consolas"/>
              </a:rPr>
              <a:t>pipeline/*.py        </a:t>
            </a:r>
            <a:r>
              <a:rPr sz="1000" b="0" i="1">
                <a:solidFill>
                  <a:srgbClr val="22D3EE"/>
                </a:solidFill>
                <a:latin typeface="Consolas"/>
              </a:rPr>
              <a:t> # Iceshelf: ingest + upsert jobs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2D3EE"/>
                </a:solidFill>
                <a:latin typeface="Consolas"/>
              </a:rPr>
              <a:t>│   └─ </a:t>
            </a:r>
            <a:r>
              <a:rPr sz="1100" b="1" i="0">
                <a:solidFill>
                  <a:srgbClr val="22D3EE"/>
                </a:solidFill>
                <a:latin typeface="Consolas"/>
              </a:rPr>
              <a:t>maintenance/*.py     </a:t>
            </a:r>
            <a:r>
              <a:rPr sz="1000" b="0" i="1">
                <a:solidFill>
                  <a:srgbClr val="22D3EE"/>
                </a:solidFill>
                <a:latin typeface="Consolas"/>
              </a:rPr>
              <a:t> # Iceshelf: compaction, expiry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2D3EE"/>
                </a:solidFill>
                <a:latin typeface="Consolas"/>
              </a:rPr>
              <a:t>├─ </a:t>
            </a:r>
            <a:r>
              <a:rPr sz="1100" b="1" i="0">
                <a:solidFill>
                  <a:srgbClr val="22D3EE"/>
                </a:solidFill>
                <a:latin typeface="Consolas"/>
              </a:rPr>
              <a:t>infra/iceberg/*.tf       </a:t>
            </a:r>
            <a:r>
              <a:rPr sz="1000" b="0" i="1">
                <a:solidFill>
                  <a:srgbClr val="22D3EE"/>
                </a:solidFill>
                <a:latin typeface="Consolas"/>
              </a:rPr>
              <a:t> # Iceshelf: S3/Glue/IAM/KMS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2D3EE"/>
                </a:solidFill>
                <a:latin typeface="Consolas"/>
              </a:rPr>
              <a:t>└─ </a:t>
            </a:r>
            <a:r>
              <a:rPr sz="1100" b="1" i="0">
                <a:solidFill>
                  <a:srgbClr val="22D3EE"/>
                </a:solidFill>
                <a:latin typeface="Consolas"/>
              </a:rPr>
              <a:t>runbooks/failover.md     </a:t>
            </a:r>
            <a:r>
              <a:rPr sz="1000" b="0" i="1">
                <a:solidFill>
                  <a:srgbClr val="22D3EE"/>
                </a:solidFill>
                <a:latin typeface="Consolas"/>
              </a:rPr>
              <a:t> # Iceshelf: DR runbook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521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22D3EE"/>
                </a:solidFill>
                <a:latin typeface="Calibri"/>
              </a:rPr>
              <a:t>Cyan = new files added by Iceshelf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2011680"/>
            <a:ext cx="6217920" cy="420624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2011680"/>
            <a:ext cx="54864" cy="420624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224028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  <a:latin typeface="Calibri"/>
              </a:rPr>
              <a:t>How it flows</a:t>
            </a:r>
          </a:p>
        </p:txBody>
      </p:sp>
      <p:sp>
        <p:nvSpPr>
          <p:cNvPr id="16" name="Oval 15"/>
          <p:cNvSpPr/>
          <p:nvPr/>
        </p:nvSpPr>
        <p:spPr>
          <a:xfrm>
            <a:off x="5760720" y="2743200"/>
            <a:ext cx="347472" cy="347472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B1020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724912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6EDF7"/>
                </a:solidFill>
                <a:latin typeface="Calibri"/>
              </a:rPr>
              <a:t>Install the Iceshelf plugin in your Claude Code CLI.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01752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alibri"/>
              </a:rPr>
              <a:t>Nothing leaves your machine. No account to sign up for.</a:t>
            </a:r>
          </a:p>
        </p:txBody>
      </p:sp>
      <p:sp>
        <p:nvSpPr>
          <p:cNvPr id="19" name="Oval 18"/>
          <p:cNvSpPr/>
          <p:nvPr/>
        </p:nvSpPr>
        <p:spPr>
          <a:xfrm>
            <a:off x="5760720" y="3401568"/>
            <a:ext cx="347472" cy="347472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B1020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38328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6EDF7"/>
                </a:solidFill>
                <a:latin typeface="Calibri"/>
              </a:rPr>
              <a:t>Run /iceberg-profile-setup in the producer repo.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3675888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alibri"/>
              </a:rPr>
              <a:t>Captures region, bucket, stack, DR posture → profiles/&lt;producer&gt;.yaml.</a:t>
            </a:r>
          </a:p>
        </p:txBody>
      </p:sp>
      <p:sp>
        <p:nvSpPr>
          <p:cNvPr id="22" name="Oval 21"/>
          <p:cNvSpPr/>
          <p:nvPr/>
        </p:nvSpPr>
        <p:spPr>
          <a:xfrm>
            <a:off x="5760720" y="4059936"/>
            <a:ext cx="347472" cy="347472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B1020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041648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6EDF7"/>
                </a:solidFill>
                <a:latin typeface="Calibri"/>
              </a:rPr>
              <a:t>Run /iceberg-onboard — orchestrator drives the rest.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4334256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alibri"/>
              </a:rPr>
              <a:t>Generates DDL, pipeline code, IaC, runbooks into the tree shown on the left.</a:t>
            </a:r>
          </a:p>
        </p:txBody>
      </p:sp>
      <p:sp>
        <p:nvSpPr>
          <p:cNvPr id="25" name="Oval 24"/>
          <p:cNvSpPr/>
          <p:nvPr/>
        </p:nvSpPr>
        <p:spPr>
          <a:xfrm>
            <a:off x="5760720" y="4718304"/>
            <a:ext cx="347472" cy="347472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B1020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700016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6EDF7"/>
                </a:solidFill>
                <a:latin typeface="Calibri"/>
              </a:rPr>
              <a:t>Review the PR. You own every line.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992624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alibri"/>
              </a:rPr>
              <a:t>Your existing CI/CD deploys exactly as it does for any other code change.</a:t>
            </a:r>
          </a:p>
        </p:txBody>
      </p:sp>
      <p:sp>
        <p:nvSpPr>
          <p:cNvPr id="28" name="Oval 27"/>
          <p:cNvSpPr/>
          <p:nvPr/>
        </p:nvSpPr>
        <p:spPr>
          <a:xfrm>
            <a:off x="5760720" y="5376672"/>
            <a:ext cx="347472" cy="347472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B1020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5358384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6EDF7"/>
                </a:solidFill>
                <a:latin typeface="Calibri"/>
              </a:rPr>
              <a:t>Ongoing: slash commands for day-2 operations.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5650992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alibri"/>
              </a:rPr>
              <a:t>Schema evolution, multi-region, maintenance — same pattern, same repo.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26364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9AA7BD"/>
                </a:solidFill>
                <a:latin typeface="Calibri"/>
              </a:rPr>
              <a:t>Iceshelf never runs at your runtime. Iceshelf never sees your data. Iceshelf has no cloud account of its own.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· v1.0.0 · Executive briefing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280160" cy="256032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A78BFA"/>
                </a:solidFill>
                <a:latin typeface="Calibri"/>
              </a:rPr>
              <a:t>Architect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20240" y="457200"/>
            <a:ext cx="1280160" cy="256032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34D399"/>
                </a:solidFill>
                <a:latin typeface="Calibri"/>
              </a:rPr>
              <a:t>Developer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PRODUCER JOURNEY · SKILLS &amp; AGENTS AT EACH STAGE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78992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Five phases. Each with a skill you run and an agent that drives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10512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2240280" cy="411480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54864" cy="4114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240280"/>
            <a:ext cx="1874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22D3EE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6EDF7"/>
                </a:solidFill>
                <a:latin typeface="Calibri"/>
              </a:rPr>
              <a:t>Profile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200400"/>
            <a:ext cx="187452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337560"/>
            <a:ext cx="1874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6B7890"/>
                </a:solidFill>
                <a:latin typeface="Calibri"/>
              </a:rPr>
              <a:t>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1874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onsolas"/>
              </a:rPr>
              <a:t>profiles/&lt;producer&gt;.yaml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480560"/>
            <a:ext cx="1874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6B7890"/>
                </a:solidFill>
                <a:latin typeface="Calibri"/>
              </a:rPr>
              <a:t>SKILL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09160"/>
            <a:ext cx="1874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onsolas"/>
              </a:rPr>
              <a:t>/iceberg-profile-setup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577840"/>
            <a:ext cx="1874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6B7890"/>
                </a:solidFill>
                <a:latin typeface="Calibri"/>
              </a:rPr>
              <a:t>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806439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E6EDF7"/>
                </a:solidFill>
                <a:latin typeface="Calibri"/>
              </a:rPr>
              <a:t>iceberg-architect
(validates)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793920" y="4005072"/>
            <a:ext cx="63152" cy="219456"/>
          </a:xfrm>
          <a:prstGeom prst="rightArrow">
            <a:avLst/>
          </a:prstGeom>
          <a:solidFill>
            <a:srgbClr val="2B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62072" y="2057400"/>
            <a:ext cx="2240280" cy="411480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62072" y="2057400"/>
            <a:ext cx="54864" cy="41148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2240280"/>
            <a:ext cx="1874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A78BFA"/>
                </a:solidFill>
                <a:latin typeface="Calibr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4952" y="2743200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6EDF7"/>
                </a:solidFill>
                <a:latin typeface="Calibri"/>
              </a:rPr>
              <a:t>Assess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44952" y="3200400"/>
            <a:ext cx="187452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3337560"/>
            <a:ext cx="1874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6B7890"/>
                </a:solidFill>
                <a:latin typeface="Calibri"/>
              </a:rPr>
              <a:t>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4952" y="3566160"/>
            <a:ext cx="1874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onsolas"/>
              </a:rPr>
              <a:t>assessment report
(existing state → target)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44952" y="4480560"/>
            <a:ext cx="1874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6B7890"/>
                </a:solidFill>
                <a:latin typeface="Calibri"/>
              </a:rPr>
              <a:t>SKILL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44952" y="4709160"/>
            <a:ext cx="1874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  <a:latin typeface="Consolas"/>
              </a:rPr>
              <a:t>/iceberg-onboard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44952" y="5577840"/>
            <a:ext cx="1874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6B7890"/>
                </a:solidFill>
                <a:latin typeface="Calibri"/>
              </a:rPr>
              <a:t>AGENT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44952" y="5806439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E6EDF7"/>
                </a:solidFill>
                <a:latin typeface="Calibri"/>
              </a:rPr>
              <a:t>iceberg-orchestrator
→ iceberg-architect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107352" y="4005072"/>
            <a:ext cx="63152" cy="219456"/>
          </a:xfrm>
          <a:prstGeom prst="rightArrow">
            <a:avLst/>
          </a:prstGeom>
          <a:solidFill>
            <a:srgbClr val="2B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75504" y="2057400"/>
            <a:ext cx="2240280" cy="411480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75504" y="2057400"/>
            <a:ext cx="54864" cy="41148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58384" y="2240280"/>
            <a:ext cx="1874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34D399"/>
                </a:solidFill>
                <a:latin typeface="Calibri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58384" y="2743200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6EDF7"/>
                </a:solidFill>
                <a:latin typeface="Calibri"/>
              </a:rPr>
              <a:t>Generate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58384" y="3200400"/>
            <a:ext cx="187452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58384" y="3337560"/>
            <a:ext cx="1874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6B7890"/>
                </a:solidFill>
                <a:latin typeface="Calibri"/>
              </a:rPr>
              <a:t>OUTPUT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58384" y="3566160"/>
            <a:ext cx="1874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onsolas"/>
              </a:rPr>
              <a:t>iceberg/ddl, pipeline/,
maintenance/,
infra/iceberg/*.tf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58384" y="4480560"/>
            <a:ext cx="1874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6B7890"/>
                </a:solidFill>
                <a:latin typeface="Calibri"/>
              </a:rPr>
              <a:t>SKILL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4" y="4709160"/>
            <a:ext cx="1874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34D399"/>
                </a:solidFill>
                <a:latin typeface="Consolas"/>
              </a:rPr>
              <a:t>/iceberg-ddl
/iceberg-pipeline
/iceberg-data
/iceberg-maintenance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58384" y="5577840"/>
            <a:ext cx="1874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6B7890"/>
                </a:solidFill>
                <a:latin typeface="Calibri"/>
              </a:rPr>
              <a:t>AGENT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58384" y="5806439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E6EDF7"/>
                </a:solidFill>
                <a:latin typeface="Calibri"/>
              </a:rPr>
              <a:t>iceberg-code-
generator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7420784" y="4005072"/>
            <a:ext cx="63152" cy="219456"/>
          </a:xfrm>
          <a:prstGeom prst="rightArrow">
            <a:avLst/>
          </a:prstGeom>
          <a:solidFill>
            <a:srgbClr val="2B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88936" y="2057400"/>
            <a:ext cx="2240280" cy="411480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488936" y="2057400"/>
            <a:ext cx="54864" cy="41148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71816" y="2240280"/>
            <a:ext cx="1874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BBF24"/>
                </a:solidFill>
                <a:latin typeface="Calibri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71816" y="2743200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6EDF7"/>
                </a:solidFill>
                <a:latin typeface="Calibri"/>
              </a:rPr>
              <a:t>Multi-region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671816" y="3200400"/>
            <a:ext cx="187452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71816" y="3337560"/>
            <a:ext cx="1874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6B7890"/>
                </a:solidFill>
                <a:latin typeface="Calibri"/>
              </a:rPr>
              <a:t>OUTPUT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71816" y="3566160"/>
            <a:ext cx="1874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onsolas"/>
              </a:rPr>
              <a:t>repoint utility
DR runbook
CRR Terraform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71816" y="4480560"/>
            <a:ext cx="1874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6B7890"/>
                </a:solidFill>
                <a:latin typeface="Calibri"/>
              </a:rPr>
              <a:t>SKILL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71816" y="4709160"/>
            <a:ext cx="1874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BBF24"/>
                </a:solidFill>
                <a:latin typeface="Consolas"/>
              </a:rPr>
              <a:t>/iceberg-multi-region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71816" y="5577840"/>
            <a:ext cx="1874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6B7890"/>
                </a:solidFill>
                <a:latin typeface="Calibri"/>
              </a:rPr>
              <a:t>AGENT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71816" y="5806439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E6EDF7"/>
                </a:solidFill>
                <a:latin typeface="Calibri"/>
              </a:rPr>
              <a:t>iceberg-multi-
region-planner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9734216" y="4005072"/>
            <a:ext cx="63152" cy="219456"/>
          </a:xfrm>
          <a:prstGeom prst="rightArrow">
            <a:avLst/>
          </a:prstGeom>
          <a:solidFill>
            <a:srgbClr val="2B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802368" y="2057400"/>
            <a:ext cx="2240280" cy="411480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802368" y="2057400"/>
            <a:ext cx="54864" cy="4114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985248" y="2240280"/>
            <a:ext cx="1874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22D3EE"/>
                </a:solidFill>
                <a:latin typeface="Calibri"/>
              </a:rPr>
              <a:t>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85248" y="2743200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6EDF7"/>
                </a:solidFill>
                <a:latin typeface="Calibri"/>
              </a:rPr>
              <a:t>Promote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985248" y="3200400"/>
            <a:ext cx="187452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985248" y="3337560"/>
            <a:ext cx="1874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6B7890"/>
                </a:solidFill>
                <a:latin typeface="Calibri"/>
              </a:rPr>
              <a:t>OUTPUT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85248" y="3566160"/>
            <a:ext cx="1874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onsolas"/>
              </a:rPr>
              <a:t>diagnostics clean
pilot-to-prod
sign-off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85248" y="4480560"/>
            <a:ext cx="1874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6B7890"/>
                </a:solidFill>
                <a:latin typeface="Calibri"/>
              </a:rPr>
              <a:t>SKILL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85248" y="4709160"/>
            <a:ext cx="1874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onsolas"/>
              </a:rPr>
              <a:t>/iceberg-info
/iceberg-migrate*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85248" y="5577840"/>
            <a:ext cx="1874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6B7890"/>
                </a:solidFill>
                <a:latin typeface="Calibri"/>
              </a:rPr>
              <a:t>AGENT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85248" y="5806439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E6EDF7"/>
                </a:solidFill>
                <a:latin typeface="Calibri"/>
              </a:rPr>
              <a:t>iceberg-validator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8640" y="626364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B7890"/>
                </a:solidFill>
                <a:latin typeface="Calibri"/>
              </a:rPr>
              <a:t>* /iceberg-migrate is used when the producer is moving an existing Parquet table — otherwise skip.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· v1.0.0 · Executive briefing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280160" cy="256032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A78BFA"/>
                </a:solidFill>
                <a:latin typeface="Calibri"/>
              </a:rPr>
              <a:t>Architect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20240" y="457200"/>
            <a:ext cx="1280160" cy="256032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BBF24"/>
                </a:solidFill>
                <a:latin typeface="Calibri"/>
              </a:rPr>
              <a:t>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MULTI-REGION · THE DIFFERENTIATOR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78992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DR resilience without cross-region S3 or MRAPs.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10512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4846320" cy="292608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54864" cy="2926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2D3EE"/>
                </a:solidFill>
                <a:latin typeface="Calibri"/>
              </a:rPr>
              <a:t>PRIMARY  ·  us-east-1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43891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S3 warehouse bucket — data + metadata written locally</a:t>
            </a:r>
          </a:p>
          <a:p>
            <a:pPr>
              <a:lnSpc>
                <a:spcPct val="14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Glue catalog with primary metadata_location</a:t>
            </a:r>
          </a:p>
          <a:p>
            <a:pPr>
              <a:lnSpc>
                <a:spcPct val="14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Ingest job: glue.region + s3.region pinned locally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011680"/>
            <a:ext cx="4846320" cy="292608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66560" y="2011680"/>
            <a:ext cx="54864" cy="292608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1945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78BFA"/>
                </a:solidFill>
                <a:latin typeface="Calibri"/>
              </a:rPr>
              <a:t>DR  ·  us-west-2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697480"/>
            <a:ext cx="43891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Replicated bucket via S3 Cross-Region Replication</a:t>
            </a:r>
          </a:p>
          <a:p>
            <a:pPr>
              <a:lnSpc>
                <a:spcPct val="140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Repointing utility rewrites metadata + manifests</a:t>
            </a:r>
          </a:p>
          <a:p>
            <a:pPr>
              <a:lnSpc>
                <a:spcPct val="140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Local Glue catalog — queryable in-region</a:t>
            </a:r>
          </a:p>
          <a:p>
            <a:pPr>
              <a:lnSpc>
                <a:spcPct val="140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Zero cross-region I/O at runtime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486400" y="3108960"/>
            <a:ext cx="1188720" cy="365760"/>
          </a:xfrm>
          <a:prstGeom prst="rightArrow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0" y="27889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Calibri"/>
              </a:rPr>
              <a:t>S3 CRR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675120" y="4023360"/>
            <a:ext cx="-1188720" cy="365760"/>
          </a:xfrm>
          <a:prstGeom prst="rightArrow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35661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BBF24"/>
                </a:solidFill>
                <a:latin typeface="Calibri"/>
              </a:rPr>
              <a:t>repoint 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120640"/>
            <a:ext cx="5577840" cy="128016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5120640"/>
            <a:ext cx="54864" cy="128016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035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4D399"/>
                </a:solidFill>
                <a:latin typeface="Calibri"/>
              </a:rPr>
              <a:t>Recovery targets (default profile)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623560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9AA7BD"/>
                </a:solidFill>
                <a:latin typeface="Calibri"/>
              </a:rPr>
              <a:t>RPO </a:t>
            </a:r>
            <a:r>
              <a:rPr sz="1100" b="1" i="0">
                <a:solidFill>
                  <a:srgbClr val="34D399"/>
                </a:solidFill>
                <a:latin typeface="Consolas"/>
              </a:rPr>
              <a:t>≤ 20 min</a:t>
            </a:r>
            <a:r>
              <a:rPr sz="1100" b="0" i="0">
                <a:solidFill>
                  <a:srgbClr val="6B7890"/>
                </a:solidFill>
                <a:latin typeface="Calibri"/>
              </a:rPr>
              <a:t>   ·   </a:t>
            </a:r>
            <a:r>
              <a:rPr sz="1100" b="1" i="0">
                <a:solidFill>
                  <a:srgbClr val="9AA7BD"/>
                </a:solidFill>
                <a:latin typeface="Calibri"/>
              </a:rPr>
              <a:t>RTO </a:t>
            </a:r>
            <a:r>
              <a:rPr sz="1100" b="1" i="0">
                <a:solidFill>
                  <a:srgbClr val="34D399"/>
                </a:solidFill>
                <a:latin typeface="Consolas"/>
              </a:rPr>
              <a:t>≤ 60 min</a:t>
            </a:r>
            <a:r>
              <a:rPr sz="1100" b="0" i="0">
                <a:solidFill>
                  <a:srgbClr val="6B7890"/>
                </a:solidFill>
                <a:latin typeface="Calibri"/>
              </a:rPr>
              <a:t>   ·   </a:t>
            </a:r>
            <a:r>
              <a:rPr sz="1100" b="0" i="0">
                <a:solidFill>
                  <a:srgbClr val="E6EDF7"/>
                </a:solidFill>
                <a:latin typeface="Consolas"/>
              </a:rPr>
              <a:t>repoint every 15 min</a:t>
            </a:r>
          </a:p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890"/>
                </a:solidFill>
                <a:latin typeface="Calibri"/>
              </a:rPr>
              <a:t>Tunable per profile. CloudWatch alarms generated to prove the numbers.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5120640"/>
            <a:ext cx="5486400" cy="128016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5120640"/>
            <a:ext cx="54864" cy="128016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3035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2D3EE"/>
                </a:solidFill>
                <a:latin typeface="Calibri"/>
              </a:rPr>
              <a:t>Guarantees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562356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34D399"/>
                </a:solidFill>
                <a:latin typeface="Calibri"/>
              </a:rPr>
              <a:t>✓ </a:t>
            </a:r>
            <a:r>
              <a:rPr sz="1100" b="0" i="0">
                <a:solidFill>
                  <a:srgbClr val="E6EDF7"/>
                </a:solidFill>
                <a:latin typeface="Calibri"/>
              </a:rPr>
              <a:t>Zero cross-region I/O   </a:t>
            </a:r>
            <a:r>
              <a:rPr sz="1100" b="1" i="0">
                <a:solidFill>
                  <a:srgbClr val="34D399"/>
                </a:solidFill>
                <a:latin typeface="Calibri"/>
              </a:rPr>
              <a:t>✓ </a:t>
            </a:r>
            <a:r>
              <a:rPr sz="1100" b="0" i="0">
                <a:solidFill>
                  <a:srgbClr val="E6EDF7"/>
                </a:solidFill>
                <a:latin typeface="Calibri"/>
              </a:rPr>
              <a:t>No MRAPs   </a:t>
            </a:r>
            <a:r>
              <a:rPr sz="1100" b="1" i="0">
                <a:solidFill>
                  <a:srgbClr val="34D399"/>
                </a:solidFill>
                <a:latin typeface="Calibri"/>
              </a:rPr>
              <a:t>✓ </a:t>
            </a:r>
            <a:r>
              <a:rPr sz="1100" b="0" i="0">
                <a:solidFill>
                  <a:srgbClr val="E6EDF7"/>
                </a:solidFill>
                <a:latin typeface="Calibri"/>
              </a:rPr>
              <a:t>Per-region catalog</a:t>
            </a:r>
          </a:p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34D399"/>
                </a:solidFill>
                <a:latin typeface="Calibri"/>
              </a:rPr>
              <a:t>✓ </a:t>
            </a:r>
            <a:r>
              <a:rPr sz="1100" b="0" i="0">
                <a:solidFill>
                  <a:srgbClr val="E6EDF7"/>
                </a:solidFill>
                <a:latin typeface="Calibri"/>
              </a:rPr>
              <a:t>Atomic repointing   </a:t>
            </a:r>
            <a:r>
              <a:rPr sz="1100" b="1" i="0">
                <a:solidFill>
                  <a:srgbClr val="34D399"/>
                </a:solidFill>
                <a:latin typeface="Calibri"/>
              </a:rPr>
              <a:t>✓ </a:t>
            </a:r>
            <a:r>
              <a:rPr sz="1100" b="0" i="0">
                <a:solidFill>
                  <a:srgbClr val="E6EDF7"/>
                </a:solidFill>
                <a:latin typeface="Calibri"/>
              </a:rPr>
              <a:t>Auditable runbook   </a:t>
            </a:r>
            <a:r>
              <a:rPr sz="1100" b="1" i="0">
                <a:solidFill>
                  <a:srgbClr val="34D399"/>
                </a:solidFill>
                <a:latin typeface="Calibri"/>
              </a:rPr>
              <a:t>✓ </a:t>
            </a:r>
            <a:r>
              <a:rPr sz="1100" b="0" i="0">
                <a:solidFill>
                  <a:srgbClr val="E6EDF7"/>
                </a:solidFill>
                <a:latin typeface="Calibri"/>
              </a:rPr>
              <a:t>Game-day tested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· v1.0.0 · Executive briefing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280160" cy="256032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34D399"/>
                </a:solidFill>
                <a:latin typeface="Calibri"/>
              </a:rPr>
              <a:t>Developer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20240" y="457200"/>
            <a:ext cx="1280160" cy="256032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A78BFA"/>
                </a:solidFill>
                <a:latin typeface="Calibri"/>
              </a:rPr>
              <a:t>Architect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SKILLS &amp; SUBAGENTS · CHEAT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78992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What's in the box.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10512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2D3EE"/>
                </a:solidFill>
                <a:latin typeface="Calibri"/>
              </a:rPr>
              <a:t>Skills — slash commands you run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377440"/>
          <a:ext cx="6858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384048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1">
                          <a:solidFill>
                            <a:srgbClr val="22D3EE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1">
                          <a:solidFill>
                            <a:srgbClr val="22D3EE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384048"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/iceberg-profile-setup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Capture producer conventions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384048"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/iceberg-onboard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End-to-end orchestrator entry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384048"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/iceberg-ddl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Tables + schema evolution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384048"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/iceberg-data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Insert / upsert / delete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384048"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/iceberg-maintenance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Compaction, expiry, cleanup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384048"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/iceberg-info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Diagnostics + metadata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384048"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/iceberg-migrate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Parquet / Hive → Iceberg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384048"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/iceberg-multi-region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CRR + repoint + DR catalog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384048"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/iceberg-pipeline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End-to-end pipeline gen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80960" y="201168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A78BFA"/>
                </a:solidFill>
                <a:latin typeface="Calibri"/>
              </a:rPr>
              <a:t>Subagents — specialist reasoning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680960" y="2377440"/>
          <a:ext cx="4023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</a:tblGrid>
              <a:tr h="36576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1">
                          <a:solidFill>
                            <a:srgbClr val="A78BFA"/>
                          </a:solidFill>
                          <a:latin typeface="Calibri"/>
                        </a:rPr>
                        <a:t>Name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1">
                          <a:solidFill>
                            <a:srgbClr val="A78BFA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365760"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A78BFA"/>
                          </a:solidFill>
                          <a:latin typeface="Calibri"/>
                        </a:rPr>
                        <a:t>orchestrator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Coordinates end-to-end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365760"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A78BFA"/>
                          </a:solidFill>
                          <a:latin typeface="Calibri"/>
                        </a:rPr>
                        <a:t>architect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Design + assessment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365760"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A78BFA"/>
                          </a:solidFill>
                          <a:latin typeface="Calibri"/>
                        </a:rPr>
                        <a:t>code-generator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Stack-specific code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365760"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A78BFA"/>
                          </a:solidFill>
                          <a:latin typeface="Calibri"/>
                        </a:rPr>
                        <a:t>validator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Checks before deploy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365760"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A78BFA"/>
                          </a:solidFill>
                          <a:latin typeface="Calibri"/>
                        </a:rPr>
                        <a:t>multi-region-planner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DR + repoint strategy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680960" y="4754880"/>
            <a:ext cx="4023360" cy="146304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80960" y="4754880"/>
            <a:ext cx="54864" cy="14630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09560" y="48920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4D399"/>
                </a:solidFill>
                <a:latin typeface="Calibri"/>
              </a:rPr>
              <a:t>All share one profile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521208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AA7BD"/>
                </a:solidFill>
                <a:latin typeface="Calibri"/>
              </a:rPr>
              <a:t>Every skill and subagent reads profiles/&lt;producer&gt;.yaml. Producers answer questions once, not per-skill.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· v1.0.0 · Executive briefing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280160" cy="256032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A78BFA"/>
                </a:solidFill>
                <a:latin typeface="Calibri"/>
              </a:rPr>
              <a:t>Architect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20240" y="457200"/>
            <a:ext cx="1280160" cy="256032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BBF24"/>
                </a:solidFill>
                <a:latin typeface="Calibri"/>
              </a:rPr>
              <a:t>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SECURITY &amp;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78992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Defensible by default — built for security review.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10512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2743200" cy="329184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54864" cy="32918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2D3EE"/>
                </a:solidFill>
                <a:latin typeface="Calibri"/>
              </a:rPr>
              <a:t>Identity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43200"/>
            <a:ext cx="2286000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IAM scoped to DB + table ARNs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Never "*" in generated policies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Read / write / maint roles split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Lake Formation supported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01568" y="2011680"/>
            <a:ext cx="2743200" cy="329184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1568" y="2011680"/>
            <a:ext cx="54864" cy="329184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22402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  <a:latin typeface="Calibri"/>
              </a:rPr>
              <a:t>Encryption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743200"/>
            <a:ext cx="2286000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A78BFA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S3 = aws:kms by default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A78BFA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CMK alias pinned in profile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A78BFA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Per-producer key isolation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A78BFA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Key-grant list scripted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54496" y="2011680"/>
            <a:ext cx="2743200" cy="329184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4496" y="2011680"/>
            <a:ext cx="54864" cy="32918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22402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  <a:latin typeface="Calibri"/>
              </a:rPr>
              <a:t>Network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2743200"/>
            <a:ext cx="2286000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VPC endpoints: S3 / Glue / STS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KMS + CloudWatch private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No public egress required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Private-subnet-only supported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07424" y="2011680"/>
            <a:ext cx="2743200" cy="329184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07424" y="2011680"/>
            <a:ext cx="54864" cy="329184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36024" y="22402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  <a:latin typeface="Calibri"/>
              </a:rPr>
              <a:t>Audit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6024" y="2743200"/>
            <a:ext cx="2286000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Profile + code diff-reviewable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Required tags enforced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Optional WORM audit bucket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Retention windows explicit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577840"/>
            <a:ext cx="11155680" cy="86868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577840"/>
            <a:ext cx="1115568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7607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2D3EE"/>
                </a:solidFill>
                <a:latin typeface="Calibri"/>
              </a:rPr>
              <a:t>Framework alignment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080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2D3EE"/>
                </a:solidFill>
                <a:latin typeface="Calibri"/>
              </a:rPr>
              <a:t>SOC 2</a:t>
            </a:r>
            <a:r>
              <a:rPr sz="1100" b="0" i="0">
                <a:solidFill>
                  <a:srgbClr val="6B7890"/>
                </a:solidFill>
                <a:latin typeface="Calibri"/>
              </a:rPr>
              <a:t>   ·   </a:t>
            </a:r>
            <a:r>
              <a:rPr sz="1100" b="1" i="0">
                <a:solidFill>
                  <a:srgbClr val="A78BFA"/>
                </a:solidFill>
                <a:latin typeface="Calibri"/>
              </a:rPr>
              <a:t>HIPAA / PHI</a:t>
            </a:r>
            <a:r>
              <a:rPr sz="1100" b="0" i="0">
                <a:solidFill>
                  <a:srgbClr val="6B7890"/>
                </a:solidFill>
                <a:latin typeface="Calibri"/>
              </a:rPr>
              <a:t>   ·   </a:t>
            </a:r>
            <a:r>
              <a:rPr sz="1100" b="1" i="0">
                <a:solidFill>
                  <a:srgbClr val="34D399"/>
                </a:solidFill>
                <a:latin typeface="Calibri"/>
              </a:rPr>
              <a:t>PCI-DSS</a:t>
            </a:r>
            <a:r>
              <a:rPr sz="1100" b="0" i="0">
                <a:solidFill>
                  <a:srgbClr val="6B7890"/>
                </a:solidFill>
                <a:latin typeface="Calibri"/>
              </a:rPr>
              <a:t>   ·   </a:t>
            </a:r>
            <a:r>
              <a:rPr sz="1100" b="1" i="0">
                <a:solidFill>
                  <a:srgbClr val="FBBF24"/>
                </a:solidFill>
                <a:latin typeface="Calibri"/>
              </a:rPr>
              <a:t>FedRAMP / GovCloud</a:t>
            </a:r>
            <a:r>
              <a:rPr sz="1100" b="0" i="1">
                <a:solidFill>
                  <a:srgbClr val="9AA7BD"/>
                </a:solidFill>
                <a:latin typeface="Calibri"/>
              </a:rPr>
              <a:t>   —  aligned by design; artifacts portable to GovCloud with a profile swap.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· v1.0.0 · Executive briefing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280160" cy="256032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BBF24"/>
                </a:solidFill>
                <a:latin typeface="Calibri"/>
              </a:rPr>
              <a:t>Leadership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20240" y="457200"/>
            <a:ext cx="1280160" cy="256032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A78BFA"/>
                </a:solidFill>
                <a:latin typeface="Calibri"/>
              </a:rPr>
              <a:t>Architect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WHAT SHIPS IN V1.0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78992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Six stacks. One quality bar.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10512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011680"/>
          <a:ext cx="11155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3668"/>
                <a:gridCol w="1593668"/>
                <a:gridCol w="1593668"/>
                <a:gridCol w="1593668"/>
                <a:gridCol w="1593668"/>
                <a:gridCol w="1593668"/>
                <a:gridCol w="1593672"/>
              </a:tblGrid>
              <a:tr h="470262"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Glue PySpark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EMR PySpark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ECS Py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Lambda Py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ECS Java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Lambda Java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470262"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DDL + schema evolution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70262"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Insert / upsert / delete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470262"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Compaction + expiry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70262"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Multi-region + repoint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470262"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IaC (Terraform)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70268"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DR runbook generated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486400"/>
            <a:ext cx="3657600" cy="100584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486400"/>
            <a:ext cx="54864" cy="10058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9612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2D3EE"/>
                </a:solidFill>
                <a:latin typeface="Calibri"/>
              </a:rPr>
              <a:t>100% code is yours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92531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alibri"/>
              </a:rPr>
              <a:t>No runtime service. Stop using Iceshelf — keep every file.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5486400"/>
            <a:ext cx="3657600" cy="100584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5486400"/>
            <a:ext cx="54864" cy="10058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59612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4D399"/>
                </a:solidFill>
                <a:latin typeface="Calibri"/>
              </a:rPr>
              <a:t>Apache-2.0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92531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alibri"/>
              </a:rPr>
              <a:t>No licence gate. Fork it, extend it, bring it in-house.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5486400"/>
            <a:ext cx="3657600" cy="100584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5486400"/>
            <a:ext cx="54864" cy="100584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559612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BBF24"/>
                </a:solidFill>
                <a:latin typeface="Calibri"/>
              </a:rPr>
              <a:t>No SaaS ingress / egress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592531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alibri"/>
              </a:rPr>
              <a:t>Nothing from Iceshelf sits on your data path.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· v1.0.0 · Executive briefing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280160" cy="256032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BBF24"/>
                </a:solidFill>
                <a:latin typeface="Calibri"/>
              </a:rPr>
              <a:t>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0467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THE ASK · 90-DAY 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Two producers. One quarter. Clear decision gate at week 12.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10512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5577840" cy="219456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864" cy="219456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2D3EE"/>
                </a:solidFill>
                <a:latin typeface="Calibri"/>
              </a:rPr>
              <a:t>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5176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Two producers — one PySpark, one PyIceberg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One region pair (e.g. us-east-1 / us-west-2)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One preset (aws-glue-datamesh-strict by default)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Dry-run first — PR-reviewed in sandbox before prod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011680"/>
            <a:ext cx="5394960" cy="219456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2011680"/>
            <a:ext cx="54864" cy="219456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19456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  <a:latin typeface="Calibri"/>
              </a:rPr>
              <a:t>Timeline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37960" y="2423160"/>
          <a:ext cx="493776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</a:tblGrid>
              <a:tr h="29718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1">
                          <a:solidFill>
                            <a:srgbClr val="A78BFA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1">
                          <a:solidFill>
                            <a:srgbClr val="A78BFA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29718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Wk 1–2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Preset sign-off; sandbox; profiles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29718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Wk 3–7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Producer #1: onboard → ingest → multi-region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29718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Wk 8–9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Producer #2 on same preset (reuse proof)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29718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Wk 10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Game-day: simulated primary-region outage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29718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Wk 11–12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Security / cost review → go/no-go gate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48640" y="4343400"/>
            <a:ext cx="5577840" cy="201168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343400"/>
            <a:ext cx="54864" cy="201168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52628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  <a:latin typeface="Calibri"/>
              </a:rPr>
              <a:t>Exit criteria (all must pass)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8348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Both producers in production, zero hand-edits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≤ 2 person-weeks / producer (vs 10–12 DIY)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RPO ≤ 20 min and RTO ≤ 60 min on game-day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Security + cost review signed off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343400"/>
            <a:ext cx="5394960" cy="201168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4343400"/>
            <a:ext cx="54864" cy="20116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45262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  <a:latin typeface="Calibri"/>
              </a:rPr>
              <a:t>What we need from 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98348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Executive sponsor (clears org-level blockers)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Platform-team lead: 0.5 FTE × 12 weeks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Two producer teams: ~0.25 FTE each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Sandbox AWS account with target region pair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· v1.0.0 · Executive briefing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280160" cy="256032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Calibri"/>
              </a:rPr>
              <a:t>All audiences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0467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One action for each audience.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10512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3657600" cy="34747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54864" cy="34747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377440"/>
            <a:ext cx="1828800" cy="256032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BBF24"/>
                </a:solidFill>
                <a:latin typeface="Calibri"/>
              </a:rPr>
              <a:t>Leadership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346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6EDF7"/>
                </a:solidFill>
                <a:latin typeface="Calibri"/>
              </a:rPr>
              <a:t>What to do next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40"/>
            <a:ext cx="31089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200"/>
              </a:spcAft>
            </a:pPr>
            <a:r>
              <a:rPr sz="1300" b="1">
                <a:solidFill>
                  <a:srgbClr val="FBBF24"/>
                </a:solidFill>
                <a:latin typeface="Calibri"/>
              </a:rPr>
              <a:t>•  </a:t>
            </a:r>
            <a:r>
              <a:rPr sz="1300">
                <a:solidFill>
                  <a:srgbClr val="E6EDF7"/>
                </a:solidFill>
                <a:latin typeface="Calibri"/>
              </a:rPr>
              <a:t>Approve Iceberg as mesh-wide table format</a:t>
            </a:r>
          </a:p>
          <a:p>
            <a:pPr>
              <a:lnSpc>
                <a:spcPct val="140000"/>
              </a:lnSpc>
              <a:spcAft>
                <a:spcPts val="200"/>
              </a:spcAft>
            </a:pPr>
            <a:r>
              <a:rPr sz="1300" b="1">
                <a:solidFill>
                  <a:srgbClr val="FBBF24"/>
                </a:solidFill>
                <a:latin typeface="Calibri"/>
              </a:rPr>
              <a:t>•  </a:t>
            </a:r>
            <a:r>
              <a:rPr sz="1300">
                <a:solidFill>
                  <a:srgbClr val="E6EDF7"/>
                </a:solidFill>
                <a:latin typeface="Calibri"/>
              </a:rPr>
              <a:t>Sponsor the 2-producer pilot next quarter</a:t>
            </a:r>
          </a:p>
          <a:p>
            <a:pPr>
              <a:lnSpc>
                <a:spcPct val="140000"/>
              </a:lnSpc>
              <a:spcAft>
                <a:spcPts val="200"/>
              </a:spcAft>
            </a:pPr>
            <a:r>
              <a:rPr sz="1300" b="1">
                <a:solidFill>
                  <a:srgbClr val="FBBF24"/>
                </a:solidFill>
                <a:latin typeface="Calibri"/>
              </a:rPr>
              <a:t>•  </a:t>
            </a:r>
            <a:r>
              <a:rPr sz="1300">
                <a:solidFill>
                  <a:srgbClr val="E6EDF7"/>
                </a:solidFill>
                <a:latin typeface="Calibri"/>
              </a:rPr>
              <a:t>Designate platform owner for preset policy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2103120"/>
            <a:ext cx="3657600" cy="34747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2103120"/>
            <a:ext cx="54864" cy="347472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2377440"/>
            <a:ext cx="1828800" cy="256032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A78BFA"/>
                </a:solidFill>
                <a:latin typeface="Calibri"/>
              </a:rPr>
              <a:t>Senior Architects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8346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6EDF7"/>
                </a:solidFill>
                <a:latin typeface="Calibri"/>
              </a:rPr>
              <a:t>What to do 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291840"/>
            <a:ext cx="31089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200"/>
              </a:spcAft>
            </a:pPr>
            <a:r>
              <a:rPr sz="1300" b="1">
                <a:solidFill>
                  <a:srgbClr val="A78BFA"/>
                </a:solidFill>
                <a:latin typeface="Calibri"/>
              </a:rPr>
              <a:t>•  </a:t>
            </a:r>
            <a:r>
              <a:rPr sz="1300">
                <a:solidFill>
                  <a:srgbClr val="E6EDF7"/>
                </a:solidFill>
                <a:latin typeface="Calibri"/>
              </a:rPr>
              <a:t>Review docs/admin-guide.md</a:t>
            </a:r>
          </a:p>
          <a:p>
            <a:pPr>
              <a:lnSpc>
                <a:spcPct val="140000"/>
              </a:lnSpc>
              <a:spcAft>
                <a:spcPts val="200"/>
              </a:spcAft>
            </a:pPr>
            <a:r>
              <a:rPr sz="1300" b="1">
                <a:solidFill>
                  <a:srgbClr val="A78BFA"/>
                </a:solidFill>
                <a:latin typeface="Calibri"/>
              </a:rPr>
              <a:t>•  </a:t>
            </a:r>
            <a:r>
              <a:rPr sz="1300">
                <a:solidFill>
                  <a:srgbClr val="E6EDF7"/>
                </a:solidFill>
                <a:latin typeface="Calibri"/>
              </a:rPr>
              <a:t>Pick the preset (strict or central-lake)</a:t>
            </a:r>
          </a:p>
          <a:p>
            <a:pPr>
              <a:lnSpc>
                <a:spcPct val="140000"/>
              </a:lnSpc>
              <a:spcAft>
                <a:spcPts val="200"/>
              </a:spcAft>
            </a:pPr>
            <a:r>
              <a:rPr sz="1300" b="1">
                <a:solidFill>
                  <a:srgbClr val="A78BFA"/>
                </a:solidFill>
                <a:latin typeface="Calibri"/>
              </a:rPr>
              <a:t>•  </a:t>
            </a:r>
            <a:r>
              <a:rPr sz="1300">
                <a:solidFill>
                  <a:srgbClr val="E6EDF7"/>
                </a:solidFill>
                <a:latin typeface="Calibri"/>
              </a:rPr>
              <a:t>Define wave-rollout policy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103120"/>
            <a:ext cx="3657600" cy="34747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2103120"/>
            <a:ext cx="54864" cy="3474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03920" y="2377440"/>
            <a:ext cx="1828800" cy="256032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34D399"/>
                </a:solidFill>
                <a:latin typeface="Calibri"/>
              </a:rPr>
              <a:t>Producer developers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28346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6EDF7"/>
                </a:solidFill>
                <a:latin typeface="Calibri"/>
              </a:rPr>
              <a:t>What to do next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291840"/>
            <a:ext cx="31089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2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•  </a:t>
            </a:r>
            <a:r>
              <a:rPr sz="1300">
                <a:solidFill>
                  <a:srgbClr val="E6EDF7"/>
                </a:solidFill>
                <a:latin typeface="Calibri"/>
              </a:rPr>
              <a:t>Read the recipe for your stack</a:t>
            </a:r>
          </a:p>
          <a:p>
            <a:pPr>
              <a:lnSpc>
                <a:spcPct val="140000"/>
              </a:lnSpc>
              <a:spcAft>
                <a:spcPts val="2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•  </a:t>
            </a:r>
            <a:r>
              <a:rPr sz="1300">
                <a:solidFill>
                  <a:srgbClr val="E6EDF7"/>
                </a:solidFill>
                <a:latin typeface="Calibri"/>
              </a:rPr>
              <a:t>Run /iceberg-profile-setup in your repo</a:t>
            </a:r>
          </a:p>
          <a:p>
            <a:pPr>
              <a:lnSpc>
                <a:spcPct val="140000"/>
              </a:lnSpc>
              <a:spcAft>
                <a:spcPts val="2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•  </a:t>
            </a:r>
            <a:r>
              <a:rPr sz="1300">
                <a:solidFill>
                  <a:srgbClr val="E6EDF7"/>
                </a:solidFill>
                <a:latin typeface="Calibri"/>
              </a:rPr>
              <a:t>Run /iceberg-onboard and review the PR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852160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9893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2D3EE"/>
                </a:solidFill>
                <a:latin typeface="Calibri"/>
              </a:rPr>
              <a:t>github.com/&lt;org&gt;/Iceshelf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59893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E6EDF7"/>
                </a:solidFill>
                <a:latin typeface="Calibri"/>
              </a:rPr>
              <a:t>v1.0.0 · Apache-2.0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· v1.0.0 · Executive briefing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