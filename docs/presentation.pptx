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ICESHELF  ·  v1.0.0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6B7890"/>
                </a:solidFill>
                <a:latin typeface="Calibri"/>
              </a:rPr>
              <a:t>Apache-2.0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Calibri"/>
              </a:rPr>
              <a:t>APACHE ICEBERG FOR AWS DATA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6EDF7"/>
                </a:solidFill>
                <a:latin typeface="Calibri"/>
              </a:rPr>
              <a:t>Onboard heterogeneous producers
to Iceberg — in days, not quarters.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9AA7BD"/>
                </a:solidFill>
                <a:latin typeface="Calibri"/>
              </a:rPr>
              <a:t>A briefing for senior management and senior architects.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Calibri"/>
              </a:rPr>
              <a:t>~80% faster producer onboarding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20624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Strict multi-region isolation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20624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6 AWS stacks, one quality bar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420624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Apache-2.0 · no SaaS dependency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69280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Calibri"/>
              </a:rPr>
              <a:t>github.com/&lt;org&gt;/Iceshelf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8064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E6EDF7"/>
                </a:solidFill>
                <a:latin typeface="Calibri"/>
              </a:rPr>
              <a:t>v1.0.0 · Apache-2.0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Every producer reinvents the same Iceberg wheel.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45720" cy="3474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D3EE"/>
                </a:solidFill>
                <a:latin typeface="Calibri"/>
              </a:rPr>
              <a:t>Heterogeneous stacks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Glue / EMR PySpark, ECS / Lambda Python, ECS / Lambda Java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Six permutations, six subtly different configuration paths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Each producer re-learns the same quirks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011680"/>
            <a:ext cx="45720" cy="3474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78BFA"/>
                </a:solidFill>
                <a:latin typeface="Calibri"/>
              </a:rPr>
              <a:t>Multi-region under strict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No cross-region S3. No MRAPs. Per-region Glue catalogs.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Metadata repointing is non-trivial and error-prone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Most reference material assumes the opposite posture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011680"/>
            <a:ext cx="36576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45720" cy="3474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4D399"/>
                </a:solidFill>
                <a:latin typeface="Calibri"/>
              </a:rPr>
              <a:t>No shared operational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92608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Compaction / snapshot expiry / orphan cleanup diverge per team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Security review reopens from zero on every onboarding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Platform teams cannot enforce policy in one 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Iceberg is the de-facto open table format. The window is open.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7432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45720" cy="3474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Calibri"/>
              </a:rPr>
              <a:t>AWS 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2286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Glue 5.1 ships Iceberg-native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Athena engine v3 reads Iceberg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EMR 7.x first-class support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1568" y="2011680"/>
            <a:ext cx="27432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1568" y="2011680"/>
            <a:ext cx="45720" cy="3474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286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Calibri"/>
              </a:rPr>
              <a:t>Warehouse convergence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926080"/>
            <a:ext cx="2286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Snowflake Polaris (open)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Databricks acquired Tabular ($1B+)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Dremio, Starburst, Trino all adopted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2011680"/>
            <a:ext cx="27432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2011680"/>
            <a:ext cx="45720" cy="3474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2286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Calibri"/>
              </a:rPr>
              <a:t>Proven at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2926080"/>
            <a:ext cx="2286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Netflix, Apple, Airbnb in production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Salesforce: ~50 PB on Iceberg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ASF top-level — no vendor gate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7424" y="2011680"/>
            <a:ext cx="2743200" cy="34747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07424" y="2011680"/>
            <a:ext cx="45720" cy="3474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2286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Regulatory pressure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2926080"/>
            <a:ext cx="2286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EU data residency expanding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Audit trails for ML training data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Time travel becoming compliance-relevant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BBF24"/>
                </a:solidFill>
                <a:latin typeface="Calibri"/>
              </a:rPr>
              <a:t>Cost of waiting: every quarter of drift is another wave of producers that must be re-onboarded later.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Calibri"/>
              </a:rPr>
              <a:t>All audiences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A Claude Code plugin — skills, subagents, presets.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657600" cy="35661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45720" cy="35661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D3EE"/>
                </a:solidFill>
                <a:latin typeface="Calibri"/>
              </a:rPr>
              <a:t>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/iceberg-profile-setup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/iceberg-onboard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/iceberg-ddl  /  /iceberg-data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/iceberg-maintenance  /  /iceberg-info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/iceberg-migrate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/iceberg-multi-region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/iceberg-pipeline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657600" cy="35661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45720" cy="356616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78BFA"/>
                </a:solidFill>
                <a:latin typeface="Calibri"/>
              </a:rPr>
              <a:t>Subagents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2608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iceberg-orchestrator (end-to-end)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iceberg-architect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iceberg-code-generator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iceberg-validator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iceberg-multi-region-planner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011680"/>
            <a:ext cx="3657600" cy="35661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2011680"/>
            <a:ext cx="45720" cy="35661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4D399"/>
                </a:solidFill>
                <a:latin typeface="Calibri"/>
              </a:rPr>
              <a:t>Presets &amp; profiles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92608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aws-glue-datamesh-strict (default)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aws-glue-central-lake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Per-producer profile YAML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Org-custom presets supported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One source of truth per producer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Outcomes, not features.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743200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274320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D3EE"/>
                </a:solidFill>
                <a:latin typeface="Calibri"/>
              </a:rPr>
              <a:t>~80%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7BD"/>
                </a:solidFill>
                <a:latin typeface="Calibri"/>
              </a:rPr>
              <a:t>faster producer onboarding vs DIY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2194560"/>
            <a:ext cx="2743200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1568" y="2194560"/>
            <a:ext cx="274320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256032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A78BFA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39319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7BD"/>
                </a:solidFill>
                <a:latin typeface="Calibri"/>
              </a:rPr>
              <a:t>cross-region S3 reads · 0 MRAPs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6" y="2194560"/>
            <a:ext cx="2743200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2194560"/>
            <a:ext cx="2743200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256032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34D399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9319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7BD"/>
                </a:solidFill>
                <a:latin typeface="Calibri"/>
              </a:rPr>
              <a:t>AWS stacks supported first-class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7424" y="2194560"/>
            <a:ext cx="2743200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07424" y="2194560"/>
            <a:ext cx="2743200" cy="7315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6024" y="256032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FBBF24"/>
                </a:solidFill>
                <a:latin typeface="Calibr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39319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7BD"/>
                </a:solidFill>
                <a:latin typeface="Calibri"/>
              </a:rPr>
              <a:t>generated code reviewable in a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E6EDF7"/>
                </a:solidFill>
                <a:latin typeface="Calibri"/>
              </a:rPr>
              <a:t>Iceshelf is a code generator with opinions — your code, your account, your catalog.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7BD"/>
                </a:solidFill>
                <a:latin typeface="Calibri"/>
              </a:rPr>
              <a:t>No runtime service to buy, no SaaS dependency, no data leaves your AWS account.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Illustrative economics for 25 producers.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486400" cy="42062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45720" cy="42062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Calibri"/>
              </a:rPr>
              <a:t>Assumptions (illustrative)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25 producers across the mesh over 12 months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DIY baseline: ~10–12 person-weeks per producer (design, code, security review, multi-region)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Iceshelf: ~2 person-weeks per producer (profile, review, deploy)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Blended loaded cost assumption: $3,000 / person-week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Excludes cloud spend (identical in both paths) and licensing (none in either)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5212080" cy="42062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011680"/>
            <a:ext cx="45720" cy="42062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945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Calibri"/>
              </a:rPr>
              <a:t>Savings model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629400" y="2743200"/>
          <a:ext cx="4754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5029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Units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5029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DIY effort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~275 person-weeks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~$825K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029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Iceshelf effort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~50 person-weeks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~$150K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5029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Platform-team overhead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Preset + reviews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~$75K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029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Net savings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~$600K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5029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Payback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&lt; 3 producers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7890"/>
                </a:solidFill>
                <a:latin typeface="Calibri"/>
              </a:rPr>
              <a:t>Numbers are illustrative and should be recalibrated with your actual producer count and loaded cost.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HOW ICESHELF COMPARES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Different problem, different shape.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9638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Runtime lock-in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Multi-region (strict)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Cost model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9638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Iceshelf (this)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None — generates your code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First-class, per-region catalogs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One-time platform build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9638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DIY per producer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Each team reinvents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Repeated cost per team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9638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Databricks / Unity + Tabular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Databricks runtime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Limited; region model differs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Per-DBU + data egress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9638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Snowflake Polaris / Open Cat.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Snowflake account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Supported via replication — different shape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Snowflake credits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9638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AWS Glue native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AWS managed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DIY multi-region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Glue + S3 pay-as-you-go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9639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Dremio / Starburst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Query-engine licence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Supported; managed tier adds cost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Per-node / per-query tier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623560"/>
            <a:ext cx="3657600" cy="10972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45720" cy="10972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71500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Complement, not replace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807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Keep your query engines — Iceshelf only handles producer 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5623560"/>
            <a:ext cx="3657600" cy="10972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5623560"/>
            <a:ext cx="45720" cy="10972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71500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Zero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60807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All data stays in your S3. No vendor SaaS ingress.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5623560"/>
            <a:ext cx="3657600" cy="10972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5623560"/>
            <a:ext cx="45720" cy="10972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571500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Exit cost: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60807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Artifacts are your code in your repo. Stop using Iceshelf — keep the pipelines.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Calibri"/>
              </a:rPr>
              <a:t>All audiences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Three audiences, one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657600" cy="35661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45720" cy="35661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Faster, safer producer onboarding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One security / audit baseline across the mesh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Predictable unit economics on Iceberg adoption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No runtime lock-in; portable artifacts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657600" cy="35661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45720" cy="356616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78BFA"/>
                </a:solidFill>
                <a:latin typeface="Calibri"/>
              </a:rPr>
              <a:t>Senior Architects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2608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Strict multi-region (no cross-region S3, no MRAPs)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Preset inheritance for policy-as-code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Glue catalog as source of truth; S3FileIO; KMS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Deterministic metadata repointing utility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011680"/>
            <a:ext cx="3657600" cy="35661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2011680"/>
            <a:ext cx="45720" cy="35661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4D399"/>
                </a:solidFill>
                <a:latin typeface="Calibri"/>
              </a:rPr>
              <a:t>Producer developers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92608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Six stacks supported — PySpark / PyIceberg / Java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Generated code, not opaque abstractions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Recipes per stack with working examples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Slash commands for day-2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SCOPE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What's in the box.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48640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45720" cy="4114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D3EE"/>
                </a:solidFill>
                <a:latin typeface="Calibri"/>
              </a:rPr>
              <a:t>In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AWS Glue Data Catalog as Iceberg catalog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Format-version 2 by default (row-level deletes, equality deletes)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Six producer stacks (Glue/EMR PySpark, ECS/Lambda Python/Java)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Strict multi-region: CRR + metadata repointing + per-region catalogs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Presets: aws-glue-datamesh-strict, aws-glue-central-lake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Compaction, snapshot expiry, orphan cleanup generated per producer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IAM / KMS / VPC endpoints encoded in generated Terraform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011680"/>
            <a:ext cx="548640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011680"/>
            <a:ext cx="45720" cy="41148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860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BBF24"/>
                </a:solidFill>
                <a:latin typeface="Calibri"/>
              </a:rPr>
              <a:t>Out of scope (today)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92608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Non-AWS catalogs (Nessie, Hive Metastore, REST) — future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Active-active multi-region writes — out of scope by design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Consumer-side query engines — use what you already have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Observability UI — generates CloudWatch dashboards, no SaaS UI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Tokenization / masking — assumed upstream in the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09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Developer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One producer, one region — the base shape.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2606040" cy="27432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45720" cy="27432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22D3EE"/>
                </a:solidFill>
                <a:latin typeface="Calibri"/>
              </a:rPr>
              <a:t>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7BD"/>
                </a:solidFill>
                <a:latin typeface="Calibri"/>
              </a:rPr>
              <a:t>Interactive CLI
Skills + subagents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64680" y="3429000"/>
            <a:ext cx="236032" cy="274320"/>
          </a:xfrm>
          <a:prstGeom prst="rightArrow">
            <a:avLst/>
          </a:prstGeom>
          <a:solidFill>
            <a:srgbClr val="2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2194560"/>
            <a:ext cx="2606040" cy="27432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2194560"/>
            <a:ext cx="45720" cy="2743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46888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A78BFA"/>
                </a:solidFill>
                <a:latin typeface="Calibri"/>
              </a:rPr>
              <a:t>Iceshelf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329184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7BD"/>
                </a:solidFill>
                <a:latin typeface="Calibri"/>
              </a:rPr>
              <a:t>Profile-first generation
Presets + templates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26752" y="3429000"/>
            <a:ext cx="236032" cy="274320"/>
          </a:xfrm>
          <a:prstGeom prst="rightArrow">
            <a:avLst/>
          </a:prstGeom>
          <a:solidFill>
            <a:srgbClr val="2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4" y="2194560"/>
            <a:ext cx="2606040" cy="27432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2784" y="2194560"/>
            <a:ext cx="45720" cy="2743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246888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34D399"/>
                </a:solidFill>
                <a:latin typeface="Calibri"/>
              </a:rPr>
              <a:t>Generated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29184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7BD"/>
                </a:solidFill>
                <a:latin typeface="Calibri"/>
              </a:rPr>
              <a:t>PySpark / PyIceberg / Java
Terraform / runbooks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88824" y="3429000"/>
            <a:ext cx="236032" cy="274320"/>
          </a:xfrm>
          <a:prstGeom prst="rightArrow">
            <a:avLst/>
          </a:prstGeom>
          <a:solidFill>
            <a:srgbClr val="2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34856" y="2194560"/>
            <a:ext cx="2606040" cy="27432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34856" y="2194560"/>
            <a:ext cx="45720" cy="27432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63456" y="246888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BBF24"/>
                </a:solidFill>
                <a:latin typeface="Calibri"/>
              </a:rPr>
              <a:t>Producer AWS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329184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7BD"/>
                </a:solidFill>
                <a:latin typeface="Calibri"/>
              </a:rPr>
              <a:t>Glue catalog · S3 warehouse
CloudWatch · KMS · VPC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E6EDF7"/>
                </a:solidFill>
                <a:latin typeface="Calibri"/>
              </a:rPr>
              <a:t>Iceshelf runs at authoring time. Nothing from Iceshelf sits on the runtime data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7BD"/>
                </a:solidFill>
                <a:latin typeface="Calibri"/>
              </a:rPr>
              <a:t>Producer code talks directly to Glue and S3 — no proxy, no sidecar, no external service.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MULTI-REGION · THE DIFFERENTIATOR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DR resilience without cross-region S3 or MRAPs.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4937760" cy="3291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45720" cy="32918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PRIMARY · us-east-1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44805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S3 warehouse bucket — data + metadata written locally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Glue catalog — table registered with primary metadata_location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Ingestion job — glue.region + s3.region pinned locally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011680"/>
            <a:ext cx="4937760" cy="329184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011680"/>
            <a:ext cx="45720" cy="32918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2402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Calibri"/>
              </a:rPr>
              <a:t>DR · us-west-2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743200"/>
            <a:ext cx="44805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Replicated bucket — same keyspace via S3 CRR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Repointing utility — rewrites metadata.json + manifests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Local Glue catalog — points at repointed metadata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Queryable in-region, zero cross-region I/O at runtime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32120" y="3291840"/>
            <a:ext cx="1097280" cy="365760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971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S3 CRR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3703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Calibri"/>
              </a:rPr>
              <a:t>repoint 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77840"/>
            <a:ext cx="2743200" cy="7315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577840"/>
            <a:ext cx="45720" cy="731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7790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Zero cross-region I/O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5577840"/>
            <a:ext cx="2743200" cy="7315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5577840"/>
            <a:ext cx="45720" cy="7315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57790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Calibri"/>
              </a:rPr>
              <a:t>No MRAPs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5577840"/>
            <a:ext cx="2743200" cy="7315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5577840"/>
            <a:ext cx="45720" cy="7315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57790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Per-region queryable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5577840"/>
            <a:ext cx="2743200" cy="7315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52560" y="5577840"/>
            <a:ext cx="45720" cy="7315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57790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Auditable failover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RPO / RTO &amp; FAILURE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Numbers you can put on a risk register.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Calibri"/>
              </a:rPr>
              <a:t>Recovery targets (default profile)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86000"/>
          <a:ext cx="55778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</a:tblGrid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RPO — data loss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≤ 20 min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CRR lag p99 + last repointed snapshot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RTO — time to query in DR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≤ 60 min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Repointing + Glue re-register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Repointing cadence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every 15 min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EventBridge → Lambda / SFN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CRR SLA (AWS)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15 min / 99%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S3 RTC, opt-in per profile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Snapshot retention (DR)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7 days default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Override in preset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333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Failover decision SLA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≤ 15 min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Human gate; alarms page on-call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965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Calibri"/>
              </a:rPr>
              <a:t>Failure-mode matrix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2286000"/>
          <a:ext cx="521208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</a:tblGrid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Behavior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CRR lag spike (&gt;30 min)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BytesPendingReplication alarm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Skip commit; DR stays last-known-good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Repointing fails mid-run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Step Functions task failure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Atomic swap; prior metadata retained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Primary writes during failover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Runbook write-disable gate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IAM deny → final repoint → DR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Stale DR catalog at query time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Snapshot-age metric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Last repointed snapshot served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8332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Orphaned data in DR bucket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Monthly orphan-cleanup job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GC older than retention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333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Failback to primary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Reverse CRR + repoint back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7"/>
                          </a:solidFill>
                          <a:latin typeface="Calibri"/>
                        </a:rPr>
                        <a:t>Same utility, flipped direction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7890"/>
                </a:solidFill>
                <a:latin typeface="Calibri"/>
              </a:rPr>
              <a:t>Targets are knobs, not guesses — CloudWatch alarms generated to prove them. Active-active is out of scope by design.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SECURITY, COMPLIANCE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Defensible by default — built for security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864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45720" cy="2103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Calibri"/>
              </a:rPr>
              <a:t>Identity &amp;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IAM scoped to specific DB + table ARNs (never *)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Lake Formation fine-grained via profile (lf_tags)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Separate read / write / maintenance roles per producer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No cross-account catalog writes by default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011680"/>
            <a:ext cx="54864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2011680"/>
            <a:ext cx="45720" cy="21031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Calibri"/>
              </a:rPr>
              <a:t>Encryption &amp; key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65176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S3 bucket encryption defaults to aws:kms (CMK alias pinned)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Glue catalog + connection-credential encryption supported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Per-producer CMK isolation — a one-line profile change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Key-grant list in profile — rotation / audit scripted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24528"/>
            <a:ext cx="54864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24528"/>
            <a:ext cx="45720" cy="21031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074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Network isolation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64608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VPC endpoints for S3 / Glue / STS / KMS / CloudWatch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No public egress to any Iceshelf-hosted service (none exists)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Private-subnet-only deployments out of the box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Multi-region data path stays in-region; CRR is the only hop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4224528"/>
            <a:ext cx="54864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4224528"/>
            <a:ext cx="45720" cy="2103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4074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Audit &amp;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864608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Profile + artifacts diff-reviewable in Git — every change attributable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Required tags enforced at generation (CostCenter, Owner, …)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Optional audit bucket: WORM mirror of every commit event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Snapshot expiry + orphan cleanup with retention windows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28816"/>
            <a:ext cx="11064240" cy="8229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665976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SOC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940296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aligned by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6665976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Calibri"/>
              </a:rPr>
              <a:t>HIPAA / PHI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6940296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aligned by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6665976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PCI-DSS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6940296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aligned by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6665976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FedRAMP / GovCloud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6940296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aligned by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Developer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TECH STACK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Six producer stacks. One quality bar.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6576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45720" cy="2103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Calibri"/>
              </a:rPr>
              <a:t>Glue PySpark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7BD"/>
                </a:solidFill>
                <a:latin typeface="Consolas"/>
              </a:rPr>
              <a:t>AWS Glue 5.0 / 5.1
Spark 3.5.x
iceberg-spark-runtime 1.10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2011680"/>
            <a:ext cx="36576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2011680"/>
            <a:ext cx="45720" cy="2103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2402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Calibri"/>
              </a:rPr>
              <a:t>EMR PySpark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7889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7BD"/>
                </a:solidFill>
                <a:latin typeface="Consolas"/>
              </a:rPr>
              <a:t>EMR 6.5+ / 7.x
Scala 2.12 / 2.13
iceberg-spark-runtime 1.10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2011680"/>
            <a:ext cx="36576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2011680"/>
            <a:ext cx="45720" cy="21031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22402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Calibri"/>
              </a:rPr>
              <a:t>ECS Python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27889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7BD"/>
                </a:solidFill>
                <a:latin typeface="Consolas"/>
              </a:rPr>
              <a:t>Fargate long-running
pyiceberg[glue,s3fs,pyarrow]≥ 0.8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24528"/>
            <a:ext cx="36576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24528"/>
            <a:ext cx="45720" cy="21031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5312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  <a:latin typeface="Calibri"/>
              </a:rPr>
              <a:t>Lambda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017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7BD"/>
                </a:solidFill>
                <a:latin typeface="Consolas"/>
              </a:rPr>
              <a:t>Lambda ≤ 15 min
Reserved concurrency = 1
pyiceberg 0.8+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4224528"/>
            <a:ext cx="36576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5968" y="4224528"/>
            <a:ext cx="45720" cy="21031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445312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Calibri"/>
              </a:rPr>
              <a:t>ECS Java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50017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7BD"/>
                </a:solidFill>
                <a:latin typeface="Consolas"/>
              </a:rPr>
              <a:t>JVM long-running
iceberg-core + iceberg-aws 1.10
GlueCatalog + S3FileIO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296" y="4224528"/>
            <a:ext cx="3657600" cy="21031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3296" y="4224528"/>
            <a:ext cx="45720" cy="21031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445312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Calibri"/>
              </a:rPr>
              <a:t>Lambda Java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50017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7BD"/>
                </a:solidFill>
                <a:latin typeface="Consolas"/>
              </a:rPr>
              <a:t>JVM 21 runtime
SnapStart for cold-start
Single-writer pattern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Developer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Slash commands, one per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1168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/iceberg-profile-setup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Run first — captures producer conventions into profile YAML.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/iceberg-onboard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End-to-end onboarding assessment for new or existing producers.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/iceberg-ddl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Create, alter, drop Iceberg tables with schema evolution.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/iceberg-data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Insert, upsert, delete data with MoR / CoW guidance.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/iceberg-maintenance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Compaction, snapshot expiry, orphan cleanup.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/iceberg-info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Table metadata inspection and diagnostics.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/iceberg-migrate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Migrate existing Parquet / Hive tables to Iceberg.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/iceberg-multi-region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Multi-region resilience setup with metadata repointing.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2062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/iceberg-pipeline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End-to-end pipeline generation for new or existing producers.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SUBAGENTS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Specialized, coordinated.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116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Subagent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A78BFA"/>
                          </a:solidFill>
                          <a:latin typeface="Calibri"/>
                        </a:rPr>
                        <a:t>iceberg-orchestrator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Coordinates end-to-end onboarding. Delegates to the specialists below.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A78BFA"/>
                          </a:solidFill>
                          <a:latin typeface="Calibri"/>
                        </a:rPr>
                        <a:t>iceberg-architect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Analyzes producer setup and designs migration strategy.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A78BFA"/>
                          </a:solidFill>
                          <a:latin typeface="Calibri"/>
                        </a:rPr>
                        <a:t>iceberg-code-generator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Generates platform-specific production code and IaC.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A78BFA"/>
                          </a:solidFill>
                          <a:latin typeface="Calibri"/>
                        </a:rPr>
                        <a:t>iceberg-validator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Validates configurations, schemas, and generated code.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1">
                          <a:solidFill>
                            <a:srgbClr val="A78BFA"/>
                          </a:solidFill>
                          <a:latin typeface="Calibri"/>
                        </a:rPr>
                        <a:t>iceberg-multi-region-planner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 b="0">
                          <a:solidFill>
                            <a:srgbClr val="E6EDF7"/>
                          </a:solidFill>
                          <a:latin typeface="Calibri"/>
                        </a:rPr>
                        <a:t>Plans and generates multi-region infrastructure and sync.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E6EDF7"/>
                </a:solidFill>
                <a:latin typeface="Calibri"/>
              </a:rPr>
              <a:t>All subagents share the producer profile — one source of truth, no re-asking.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Developer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PRODUCER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From zero to production in seven phases.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618488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45720" cy="2560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2527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22D3EE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Profile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1252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Capture producer conventions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1992" y="2194560"/>
            <a:ext cx="1618488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21992" y="2194560"/>
            <a:ext cx="45720" cy="25603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4872" y="2377440"/>
            <a:ext cx="12527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A78BF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04872" y="310896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657600"/>
            <a:ext cx="1252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Onboard scan — existing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95344" y="2194560"/>
            <a:ext cx="1618488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95344" y="2194560"/>
            <a:ext cx="45720" cy="25603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78224" y="2377440"/>
            <a:ext cx="12527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8224" y="310896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DDL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8224" y="3657600"/>
            <a:ext cx="1252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Schema + partitioning + format-v2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68696" y="2194560"/>
            <a:ext cx="1618488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68696" y="2194560"/>
            <a:ext cx="45720" cy="25603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2377440"/>
            <a:ext cx="12527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BBF24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51576" y="310896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Data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51576" y="3657600"/>
            <a:ext cx="1252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Insert / upsert / delete patterns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42048" y="2194560"/>
            <a:ext cx="1618488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8" y="2194560"/>
            <a:ext cx="45720" cy="2560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24928" y="2377440"/>
            <a:ext cx="12527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22D3EE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4928" y="310896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Maintenance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4928" y="3657600"/>
            <a:ext cx="1252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Compaction + snapshot expiry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5400" y="2194560"/>
            <a:ext cx="1618488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5400" y="2194560"/>
            <a:ext cx="45720" cy="25603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2377440"/>
            <a:ext cx="12527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A78BFA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10896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Multi-region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657600"/>
            <a:ext cx="1252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CRR + repoint + DR catalog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88752" y="2194560"/>
            <a:ext cx="1618488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88752" y="2194560"/>
            <a:ext cx="45720" cy="25603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71632" y="2377440"/>
            <a:ext cx="12527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34D399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71632" y="3108960"/>
            <a:ext cx="1252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Calibri"/>
              </a:rPr>
              <a:t>Promote to prod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71632" y="3657600"/>
            <a:ext cx="1252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7BD"/>
                </a:solidFill>
                <a:latin typeface="Calibri"/>
              </a:rPr>
              <a:t>Runbook + alarms + handoff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7BD"/>
                </a:solidFill>
                <a:latin typeface="Calibri"/>
              </a:rPr>
              <a:t>Each phase produces reviewable artifacts — code, IaC, and runbooks — committed to the producer's repo.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One YAML per producer. Preset-inherited.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640080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6400800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onsolas"/>
              </a:rPr>
              <a:t>profiles/datamesh-producer-brok.yaml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59436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890"/>
                </a:solidFill>
                <a:latin typeface="Consolas"/>
              </a:rPr>
              <a:t># Minimal profile — only overrides vs the preset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producer_name: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datamesh-producer-brok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extends: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aws-glue-datamesh-strict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primary_region: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us-east-1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dr_region: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us-west-2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warehouse_bucket_primary: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brok-confirmed-us-east-1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warehouse_bucket_dr: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brok-confirmed-us-west-2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database: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brok_confirmed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tech_stack: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glue_pyspark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2D3EE"/>
                </a:solidFill>
                <a:latin typeface="Consolas"/>
              </a:rPr>
              <a:t>orchestrator: </a:t>
            </a:r>
            <a:r>
              <a:rPr sz="1200" b="0" i="0">
                <a:solidFill>
                  <a:srgbClr val="E6EDF7"/>
                </a:solidFill>
                <a:latin typeface="Consolas"/>
              </a:rPr>
              <a:t>step_functions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011680"/>
            <a:ext cx="448056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0" y="2011680"/>
            <a:ext cx="45720" cy="41148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Calibri"/>
              </a:rPr>
              <a:t>Why this shape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43200"/>
            <a:ext cx="41148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Extends a preset — only overrides appear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Every skill reads from the profile (answers captured once)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Org can publish its own preset; producers inherit it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Diff-reviewable: policy drift is a PR, not a Slack thread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Minimal surface: ~10 fields for the common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RELEASE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v1.0.0 — what's proven.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What ships in v1.0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22D3EE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Skills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9 / 9 — all covered with recipes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Ready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Subagents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5 / 5 — orchestrator + 4 specialists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Ready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Presets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2 built-in (strict + central-lake) + org-custom hook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Ready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Tech stacks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6 / 6 supported with working code templates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Ready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Multi-region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CRR + repointing + per-region catalogs (strict posture)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Ready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Observability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CloudWatch alarms + dashboards generated per producer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Ready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Documentation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Admin guide + 3 stack recipes + end-user guide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Ready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47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Security review pkg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7"/>
                          </a:solidFill>
                          <a:latin typeface="Calibri"/>
                        </a:rPr>
                        <a:t>IAM / KMS / VPC / audit artifacts generated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Ready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890"/>
                </a:solidFill>
                <a:latin typeface="Calibri"/>
              </a:rPr>
              <a:t>License: Apache-2.0  ·  Artifacts: Claude Code plugin + profile YAML + generated code in your repo.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What we're sequencing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5760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45720" cy="4114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Calibri"/>
              </a:rPr>
              <a:t>Near-term (next quarter)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Nessie / REST catalog adapters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Glue Data Quality integration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CDC ingestion templates (DMS / DynamoDB streams)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Cost &amp; storage dashboards (per-producer + fleet)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365760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011680"/>
            <a:ext cx="45720" cy="41148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Calibri"/>
              </a:rPr>
              <a:t>Mid-term (2 quarters)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Lake Formation row/column-level access generator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Schema-evolution validator with consumer-contract checks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GovCloud profile preset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Producer marketplace for shared DDL packs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011680"/>
            <a:ext cx="3657600" cy="411480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45720" cy="41148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86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Longer-term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92608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Non-AWS cloud targets (GCP / Azure catalogs)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Active-active via conflict-aware partitioning (research)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Query-side recipes: Athena / Trino / Snowflake Polaris federation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Attached notebooks for ad-hoc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3736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Architect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THE ASK · 90-DAY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Two producers. One quarter. Clear decision gate at week 12.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577840" cy="21945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45720" cy="21945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Calibri"/>
              </a:rPr>
              <a:t>Scope &amp;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Two producers — one PySpark, one PyIceberg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One region pair — e.g. us-east-1 / us-west-2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One preset — aws-glue-datamesh-strict by default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alibri"/>
              </a:rPr>
              <a:t>•  </a:t>
            </a:r>
            <a:r>
              <a:rPr sz="1100">
                <a:solidFill>
                  <a:srgbClr val="E6EDF7"/>
                </a:solidFill>
                <a:latin typeface="Calibri"/>
              </a:rPr>
              <a:t>Dry-run first — code reviewed in a PR before prod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011680"/>
            <a:ext cx="5303520" cy="21945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2011680"/>
            <a:ext cx="45720" cy="219456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Calibri"/>
              </a:rPr>
              <a:t>Timeline (12 weeks)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37960" y="2514600"/>
          <a:ext cx="48463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423160"/>
              </a:tblGrid>
              <a:tr h="2057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 b="1">
                          <a:solidFill>
                            <a:srgbClr val="A78BFA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2057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1–2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Preset sign-off; sandbox; profiles captured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2057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3–5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Producer #1: onboard → DDL → ingestion → maintenance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2057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6–7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Multi-region for Producer #1: CRR + repoint + DR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2057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8–9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Producer #2 on the same preset (reuse proof)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2057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Game-day: primary outage; RPO / RTO on stopwatch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2057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Security, cost, auditor review</a:t>
                      </a:r>
                    </a:p>
                  </a:txBody>
                  <a:tcPr>
                    <a:solidFill>
                      <a:srgbClr val="0E1627"/>
                    </a:solidFill>
                  </a:tcPr>
                </a:tc>
              </a:tr>
              <a:tr h="2057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900" b="0">
                          <a:solidFill>
                            <a:srgbClr val="E6EDF7"/>
                          </a:solidFill>
                          <a:latin typeface="Calibri"/>
                        </a:rPr>
                        <a:t>Decision gate: go / no-go on mesh-wide rollout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48640" y="4343400"/>
            <a:ext cx="5577840" cy="20116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343400"/>
            <a:ext cx="45720" cy="20116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80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Exit criteria (all must pass)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92040"/>
            <a:ext cx="51206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Both producers in production with zero hand-edits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≤ 2 person-weeks per producer (vs 10–12 DIY)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RPO ≤ 20 min and RTO ≤ 60 min on game-day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Security / cost reviews signed 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343400"/>
            <a:ext cx="5303520" cy="20116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4343400"/>
            <a:ext cx="45720" cy="2011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4805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What we need from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892040"/>
            <a:ext cx="48463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Executive sponsor — clears org-level blockers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Platform-team lead — 0.5 FTE for 12 weeks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Two producer teams — ~0.25 FTE each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Sandbox AWS account with target region pair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•  </a:t>
            </a:r>
            <a:r>
              <a:rPr sz="1000">
                <a:solidFill>
                  <a:srgbClr val="E6EDF7"/>
                </a:solidFill>
                <a:latin typeface="Calibri"/>
              </a:rPr>
              <a:t>Security reviewer for a single walkthrough 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Calibri"/>
              </a:rPr>
              <a:t>All audiences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321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6EDF7"/>
                </a:solidFill>
                <a:latin typeface="Calibri"/>
              </a:rPr>
              <a:t>One action for each audience.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37944"/>
            <a:ext cx="1115568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657600" cy="38404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45720" cy="384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BBF24"/>
                </a:solidFill>
                <a:latin typeface="Calibri"/>
              </a:rPr>
              <a:t>Leadership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What to do 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Approve Iceberg as the mesh-wide table format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Sponsor a 2-producer pilot in the next quarter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Designate the platform-team owner for preset policy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29200"/>
            <a:ext cx="310896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Read: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D3EE"/>
                </a:solidFill>
                <a:latin typeface="Consolas"/>
              </a:rPr>
              <a:t>README.md · CHANGELOG.md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2011680"/>
            <a:ext cx="3657600" cy="38404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011680"/>
            <a:ext cx="45720" cy="38404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228600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A78BFA"/>
                </a:solidFill>
                <a:latin typeface="Calibri"/>
              </a:rPr>
              <a:t>Senior Architects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974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What to do 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1546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Review docs/admin-guide.md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Pick aws-glue-datamesh-strict or aws-glue-central-lake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Define gating and wave-rollout policy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5029200"/>
            <a:ext cx="310896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Read: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53949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D3EE"/>
                </a:solidFill>
                <a:latin typeface="Consolas"/>
              </a:rPr>
              <a:t>profiles/schema.md · profiles/presets/*.yaml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011680"/>
            <a:ext cx="3657600" cy="3840480"/>
          </a:xfrm>
          <a:prstGeom prst="rect">
            <a:avLst/>
          </a:prstGeom>
          <a:solidFill>
            <a:srgbClr val="111827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011680"/>
            <a:ext cx="45720" cy="38404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03920" y="2286000"/>
            <a:ext cx="1097280" cy="237744"/>
          </a:xfrm>
          <a:prstGeom prst="roundRect">
            <a:avLst/>
          </a:prstGeom>
          <a:solidFill>
            <a:srgbClr val="0E1627"/>
          </a:solidFill>
          <a:ln w="63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34D399"/>
                </a:solidFill>
                <a:latin typeface="Calibri"/>
              </a:rPr>
              <a:t>Producer developers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6974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6EDF7"/>
                </a:solidFill>
                <a:latin typeface="Calibri"/>
              </a:rPr>
              <a:t>What to do next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1546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Read the recipe for your stack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Run /iceberg-profile-setup in your repo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•  </a:t>
            </a:r>
            <a:r>
              <a:rPr sz="1200">
                <a:solidFill>
                  <a:srgbClr val="E6EDF7"/>
                </a:solidFill>
                <a:latin typeface="Calibri"/>
              </a:rPr>
              <a:t>Run /iceberg-onboard and review the deployment package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5029200"/>
            <a:ext cx="3108960" cy="635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Read: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3949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D3EE"/>
                </a:solidFill>
                <a:latin typeface="Consolas"/>
              </a:rPr>
              <a:t>docs/examples/&lt;stack&gt;-producer-recipe.md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github.com/&lt;org&gt;/Iceshelf  ·  v1.0.0  ·  Apache-2.0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890"/>
                </a:solidFill>
                <a:latin typeface="Calibri"/>
              </a:rPr>
              <a:t>ICESHELF  ·  v1.0.0  ·  Executive + Technical Overview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890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